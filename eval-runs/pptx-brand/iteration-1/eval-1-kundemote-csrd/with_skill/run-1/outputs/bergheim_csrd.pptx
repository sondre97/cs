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Velkommen og rammer for møtet. Poenget med dekket: vise at vi kjenner situasjonen til en mellomstor entreprenør, og at veien til god rapportering kan gjøres trinnvis.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Gå raskt gjennom agendaen. Understrek at vi vil bruke mest tid på punkt 2 og 3 – det som gjelder Bergheim konkret.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dette kort – poenget er ikke jussen, men logikken: plikten treffer de største først, og terskelverdiene avgjør. Omnibus-pakken har hevet terskler og utsatt frister, men markedskravene består.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Kjernebudskapet i møtet: dette handler mindre om lovplikt og mer om markedskrav. Sjekk gjerne hvilke byggherrer og banker som allerede har spurt Bergheim om tall – og hva de svarte.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Poengter at fase 1 er liten og avgrenset – en lav terskel for å komme i gang. VSME som ramme gjør omfanget forutsigbart, og ESRS-beredskapen ivaretas hvis Bergheim vokser inn i plikt.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Knytt gjerne til konkrete referanser fra bygg og anlegg i regionen når vi vet hvem som deltar i møtet.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Avslutt med en tydelig og liten forpliktelse: et arbeidsmøte på to timer. Avtal dato før møtet heves.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A - Rød">
    <p:bg>
      <p:bgPr>
        <a:solidFill>
          <a:srgbClr val="E8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5 em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52160" y="648309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Entreprenør AS · Førstemøte om bærekraftsrapportering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tekstfelt 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52160" y="648309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Entreprenør AS · Førstemøte om bærekraftsrapportering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tekstfelt 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52160" y="648309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Entreprenør AS · Førstemøte om bærekraftsrapportering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tekstfelt 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52160" y="648309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Entreprenør AS · Førstemøte om bærekraftsrapportering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og tekstfelt 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648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852160" y="6483096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Entreprenør AS · Førstemøte om bærekraftsrapportering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E - Rød">
    <p:bg>
      <p:bgPr>
        <a:solidFill>
          <a:srgbClr val="E8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468880"/>
            <a:ext cx="6035040" cy="6035040"/>
          </a:xfrm>
          <a:prstGeom prst="ellipse">
            <a:avLst/>
          </a:prstGeom>
          <a:solidFill>
            <a:srgbClr val="98002E"/>
          </a:solidFill>
          <a:ln w="12700">
            <a:solidFill>
              <a:srgbClr val="980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FØRSTEMØTE · AUGUST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Bærekraftsrapportering og CSRD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 krav til konkurransekraft for Bergheim Entreprenør 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Bærekraft og ESG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FØRSTEMØTE MED 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" cy="420624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608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80136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Kravbildet – CSRD, ESRS og terskelverdiene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420624" cy="420624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020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64261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 kravene betyr konkret for Bergheim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420624" cy="420624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433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4838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Vår tilnærming – tre faser fra innsikt til rapport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420624" cy="420624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45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32511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Hvorfor BDO på bærekraft i bygg og anlegg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420624" cy="420624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257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1663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 steg – forslag til prosess og beslutning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138160" y="1874520"/>
            <a:ext cx="3502152" cy="3977640"/>
          </a:xfrm>
          <a:prstGeom prst="roundRect">
            <a:avLst>
              <a:gd name="adj" fmla="val 182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103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Om møtet</a:t>
            </a:r>
            <a:endParaRPr lang="en-US" sz="1500" dirty="0"/>
          </a:p>
        </p:txBody>
      </p:sp>
      <p:pic>
        <p:nvPicPr>
          <p:cNvPr id="21" name="Image 0" descr="icons/clock_5B6E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2670048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887968" y="26517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minutter – kort innledning, mest dialog</a:t>
            </a:r>
            <a:endParaRPr lang="en-US" sz="1200" dirty="0"/>
          </a:p>
        </p:txBody>
      </p:sp>
      <p:pic>
        <p:nvPicPr>
          <p:cNvPr id="23" name="Image 1" descr="icons/target_5B6E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630168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87968" y="36118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Mål: et felles bilde av kravene og en mulig vei videre</a:t>
            </a:r>
            <a:endParaRPr lang="en-US" sz="1200" dirty="0"/>
          </a:p>
        </p:txBody>
      </p:sp>
      <p:pic>
        <p:nvPicPr>
          <p:cNvPr id="25" name="Image 2" descr="icons/users_5B6E7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72744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87968" y="47091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 BDO: bærekraftsrådgiver og revisor med bransjeansvar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KRAVBILDET · CSRD OG ESRS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CSRD treffer de største selskapene først – terskelverdiene avgjør hvem som må rapportere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Felles europeiske krav.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CSRD er EUs direktiv for bærekraftsrapportering, innført i regnskapsloven. Selskaper med plikt rapporterer etter ESRS-standardene.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3035808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Dobbel vesentlighet.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Rapporten dekker både hvordan bærekraft påvirker selskapets økonomi, og hvordan driften påvirker mennesker og miljø.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3968496"/>
            <a:ext cx="5074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Attestasjon.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Bærekraftsrapporten inngår i årsberetningen og skal attesteres av revisor.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718304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Forenkling underveis.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EUs omnibus-pakke forenkler kravene: færre selskaper får direkte plikt, og fristene er skjøvet ut i tid. Markedets forventninger består.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2084832"/>
            <a:ext cx="5605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foretak – plikt når minst to av tre terskler overskrides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2542032"/>
            <a:ext cx="1773936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32186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MNOK omsetning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2542032"/>
            <a:ext cx="1773936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46720" y="32186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MNOK balansesum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75520" y="2542032"/>
            <a:ext cx="1773936" cy="1298448"/>
          </a:xfrm>
          <a:prstGeom prst="roundRect">
            <a:avLst>
              <a:gd name="adj" fmla="val 4930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0" y="26974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966960" y="3218688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årsverk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4224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0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242816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største noterte foretakene rapporterer først – med rapport i 2025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0" y="47914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0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95160" y="480974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Øvrige store foretak – fristen er utsatt to år i omnibus-pakken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0" y="53583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80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53766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Utenfor plikt: frivillig VSME-standard blir markedets felles språk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Terskler: regnskapsloven § 1-5, jf. CSRD. Innfasing etter EUs «stop the clock»-beslutning (2025).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HVA DET BETYR FOR BERGHEIM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Bergheim ligger trolig utenfor direkte plikt – kravene kommer likevel, via anbud, byggherrer og bank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9456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Slik forstår vi situasjonen: </a:t>
            </a:r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 om lag 450 millioner kroner i omsetning ligger Bergheim under terskelverdiene for pliktig CSRD-rapportering. Åpenhetsloven gjelder allerede, og oppdragene vinnes i konkurranser der klima og miljø teller.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310128"/>
            <a:ext cx="5431536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5661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icons/clipboard_E81A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602" y="3675522"/>
            <a:ext cx="256764" cy="2567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5112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Offentlige anbud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63040" y="38221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Klima- og miljøkrav skal som hovedregel vektes med minst 30 prosent i offentlige anskaffelser.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08776" y="3310128"/>
            <a:ext cx="5431536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37376" y="356616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icons/users_5B6E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675522"/>
            <a:ext cx="256764" cy="2567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23176" y="351129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byggherrer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123176" y="382219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Rapporteringspliktige kunder trenger utslippstall fra leverandørkjeden – dokumentasjon blir kontraktskrav.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882896"/>
            <a:ext cx="5431536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7240" y="51389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icons/percent_9800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02" y="5248290"/>
            <a:ext cx="256764" cy="2567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5084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Bank og forsikring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63040" y="5394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Långivere priser klimarisiko. Et godt datagrunnlag gir tilgang til grønn finansiering og bedre betingelser.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08776" y="4882896"/>
            <a:ext cx="5431536" cy="1371600"/>
          </a:xfrm>
          <a:prstGeom prst="roundRect">
            <a:avLst>
              <a:gd name="adj" fmla="val 466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37376" y="51389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3" descr="icons/shield_00996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738" y="5248290"/>
            <a:ext cx="256764" cy="2567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23176" y="50840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Grunnmuren finnes allerede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123176" y="5394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Åpenhetslovens aktsomhetsvurderinger gir et fundament det er naturlig å bygge rapporteringen på.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VÅR TILNÆRMING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 faser fra innsikt til rapport – hver fase gir verdi som står seg alene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83864" cy="3611880"/>
          </a:xfrm>
          <a:prstGeom prst="roundRect">
            <a:avLst>
              <a:gd name="adj" fmla="val 18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41448"/>
            <a:ext cx="502920" cy="502920"/>
          </a:xfrm>
          <a:prstGeom prst="ellips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7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40280" y="2551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4–6 uker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Innsikt og prioritering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Vesentlighetsvurdering tilpasset mellomstore entreprenører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Kartlegging av krav fra kunder, anbud og långivere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Gap-analyse mot VSME-standardens datapunkter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5400000">
            <a:off x="4087368" y="3822192"/>
            <a:ext cx="219456" cy="256032"/>
          </a:xfrm>
          <a:prstGeom prst="triangl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52544" y="2148840"/>
            <a:ext cx="3483864" cy="3611880"/>
          </a:xfrm>
          <a:prstGeom prst="roundRect">
            <a:avLst>
              <a:gd name="adj" fmla="val 18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2441448"/>
            <a:ext cx="502920" cy="502920"/>
          </a:xfrm>
          <a:prstGeom prst="ellipse">
            <a:avLst/>
          </a:prstGeom>
          <a:solidFill>
            <a:srgbClr val="98002E"/>
          </a:solidFill>
          <a:ln w="12700">
            <a:solidFill>
              <a:srgbClr val="980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2427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44184" y="2551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2–3 måneder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26864" y="31272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Struktur og datagrunnlag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626864" y="3675888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Klimaregnskap for scope 1 og 2 – og de viktigste scope 3-postene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Rutiner for datafangst i prosjekter og innkjøp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Mål, policyer og tydelig ansvar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 rot="5400000">
            <a:off x="7891272" y="3822192"/>
            <a:ext cx="219456" cy="256032"/>
          </a:xfrm>
          <a:prstGeom prst="triangle">
            <a:avLst/>
          </a:prstGeom>
          <a:solidFill>
            <a:srgbClr val="E81A3B"/>
          </a:solidFill>
          <a:ln w="12700">
            <a:solidFill>
              <a:srgbClr val="E81A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6448" y="2148840"/>
            <a:ext cx="3483864" cy="3611880"/>
          </a:xfrm>
          <a:prstGeom prst="roundRect">
            <a:avLst>
              <a:gd name="adj" fmla="val 183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441448"/>
            <a:ext cx="502920" cy="502920"/>
          </a:xfrm>
          <a:prstGeom prst="ellipse">
            <a:avLst/>
          </a:prstGeom>
          <a:solidFill>
            <a:srgbClr val="5B6E7F"/>
          </a:solidFill>
          <a:ln w="12700">
            <a:solidFill>
              <a:srgbClr val="5B6E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4277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48088" y="2551176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løpende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0768" y="312724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Rapportering og forbedring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30768" y="3675888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Første bærekraftsrapport etter VSME-standarden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Beredskap for anbuds- og bankforespørsler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Årlig forbedring – og ESRS-beredskap ved vekst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Etter hver fase: en konkret leveranse og et beslutningspunkt – dere styrer tempoet.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HVORFOR 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 kombinerer bransjeinnsikt fra bygg og anlegg med revisors krav til dokumentasjon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5" name="Image 0" descr="icons/barchart2_E81A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312" y="2264512"/>
            <a:ext cx="271577" cy="2715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1305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Bygg- og anleggsanalysen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98448" y="242316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analyserer årlig økonomien i næringen – vi kjenner marginbildet og kontraktsformene entreprenørene lever med.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9" name="Image 1" descr="icons/layers_5B6E7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2" y="3270352"/>
            <a:ext cx="271577" cy="2715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98448" y="31363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Ett tverrfaglig team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98448" y="3429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Bærekraftsrådgivere og revisorer i samme leveranse gir rapportering som tåler ettersyn fra bank og byggherre.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3" name="Image 2" descr="icons/mappin_98002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2" y="4276192"/>
            <a:ext cx="271577" cy="27157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98448" y="41422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Til stede der dere bygger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98448" y="443484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Kontorer over hele landet og et fast team som kjenner både regionen og virksomheten.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pic>
        <p:nvPicPr>
          <p:cNvPr id="17" name="Image 3" descr="icons/tool_D67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2" y="5282032"/>
            <a:ext cx="271577" cy="27157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98448" y="514807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Metodikk som virker i praksis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298448" y="544068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Etablerte verktøy for klimaregnskap og VSME-rapportering, dimensjonert for mellomstore virksomheter.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0" y="2148840"/>
            <a:ext cx="3867912" cy="3931920"/>
          </a:xfrm>
          <a:prstGeom prst="roundRect">
            <a:avLst>
              <a:gd name="adj" fmla="val 165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065008" y="214884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1A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6000" dirty="0"/>
          </a:p>
        </p:txBody>
      </p:sp>
      <p:sp>
        <p:nvSpPr>
          <p:cNvPr id="22" name="Text 16"/>
          <p:cNvSpPr/>
          <p:nvPr/>
        </p:nvSpPr>
        <p:spPr>
          <a:xfrm>
            <a:off x="8092440" y="320040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Målet er en rapport dere faktisk bruker – i anbud, i banken og i styrerommet.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92440" y="50749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E7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Bærekraft og ESG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83096"/>
            <a:ext cx="41148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C8C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371600"/>
            <a:ext cx="3108960" cy="3108960"/>
          </a:xfrm>
          <a:prstGeom prst="ellipse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NESTE STEG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 dette møtet til første leveranse på under tre måneder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8386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816352"/>
            <a:ext cx="475488" cy="475488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7" name="Image 0" descr="icons/calendar_E81A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034" y="2925714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4564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Arbeidsmøte om vesentlighet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8039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timer med ledelsen om kravbilde, vesentlige temaer og ambisjonsnivå – innen to uker. Vi stiller med bransjeteamet.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52544" y="2560320"/>
            <a:ext cx="348386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8576" y="2816352"/>
            <a:ext cx="475488" cy="475488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12" name="Image 1" descr="icons/edit3_E81A3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938" y="2925714"/>
            <a:ext cx="256764" cy="256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08576" y="34564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Forslag til fase 1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08576" y="38039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Konkret plan for fase 1 med fast pris og bemanning, levert uken etter arbeidsmøtet.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56448" y="2560320"/>
            <a:ext cx="3483864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816352"/>
            <a:ext cx="475488" cy="475488"/>
          </a:xfrm>
          <a:prstGeom prst="ellipse">
            <a:avLst/>
          </a:prstGeom>
          <a:solidFill>
            <a:srgbClr val="FDEDEF"/>
          </a:solidFill>
          <a:ln w="12700">
            <a:solidFill>
              <a:srgbClr val="FDEDEF"/>
            </a:solidFill>
            <a:prstDash val="solid"/>
          </a:ln>
        </p:spPr>
      </p:sp>
      <p:pic>
        <p:nvPicPr>
          <p:cNvPr id="17" name="Image 2" descr="icons/flag_E81A3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842" y="2925714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45643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Beslutning og oppstart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412480" y="3803904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Oppstart når det passer dere – fase 1 kan være gjennomført før årsskiftet.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6035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BDO Bærekraft og ESG · bdo.no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33333"/>
      </a:dk2>
      <a:lt2>
        <a:srgbClr val="F2F2F2"/>
      </a:lt2>
      <a:accent1>
        <a:srgbClr val="E81A3B"/>
      </a:accent1>
      <a:accent2>
        <a:srgbClr val="5B6E7F"/>
      </a:accent2>
      <a:accent3>
        <a:srgbClr val="98002E"/>
      </a:accent3>
      <a:accent4>
        <a:srgbClr val="D67900"/>
      </a:accent4>
      <a:accent5>
        <a:srgbClr val="009966"/>
      </a:accent5>
      <a:accent6>
        <a:srgbClr val="008FD2"/>
      </a:accent6>
      <a:hlink>
        <a:srgbClr val="0062B8"/>
      </a:hlink>
      <a:folHlink>
        <a:srgbClr val="98002E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Bærekraftsrapportering og CSRD – Bergheim Entreprenør AS</dc:title>
  <dc:subject>PptxGenJS Presentation</dc:subject>
  <dc:creator>BDO</dc:creator>
  <cp:lastModifiedBy>BDO</cp:lastModifiedBy>
  <cp:revision>1</cp:revision>
  <dcterms:created xsi:type="dcterms:W3CDTF">2026-08-03T21:14:16Z</dcterms:created>
  <dcterms:modified xsi:type="dcterms:W3CDTF">2026-08-03T21:14:16Z</dcterms:modified>
</cp:coreProperties>
</file>