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Ønsk velkommen og sett rammen: 45 minutter, dialog underveis. Målet er en felles forståelse av kravbildet – ikke å selge et ferdig prosjekt.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Avstem agendaen: Er dette de riktige temaene? Hva er viktigst for dere i dag? Noter forventninger.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det overordnet – ikke gå inn i enkeltstandarder. Hovedbudskap: regelverket er i bevegelse (omnibus), men retningen står fast, og verdikjedekravene forsvinner ikke.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Møtets kjernebudskap: plikten treffer trolig ikke Bergheim direkte ennå – presset kommer via kunder, anbud, bank og forsikring. Spør: Hvilke ESG-krav har dere allerede møtt i anbud eller fra byggherrer?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Understrek at opplegget er skalerbart – vi starter med innsikt, ikke systemkjøp. Fase 1 kan starte innen to uker etter avtale.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Kort her – ikke selg for hardt. Tilby å sende BA-analysen og et eksempel på VSME-rapport i etterkant.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Vær konkret: foreslå dato for arbeidsmøtet før møtet heves. Avklar hvem som bør delta fra Bergheim (økonomi, KS/HMS, kalkyle).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05840"/>
            <a:ext cx="4572000" cy="4572000"/>
          </a:xfrm>
          <a:prstGeom prst="ellipse">
            <a:avLst/>
          </a:prstGeom>
          <a:ln w="28575">
            <a:solidFill>
              <a:srgbClr val="ED1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21240" y="2880360"/>
            <a:ext cx="2286000" cy="2286000"/>
          </a:xfrm>
          <a:prstGeom prst="ellipse">
            <a:avLst/>
          </a:prstGeom>
          <a:ln w="19050">
            <a:solidFill>
              <a:srgbClr val="4A4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0032" y="2377440"/>
            <a:ext cx="274320" cy="274320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11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FØRSTEMØTE  |  BÆREKRAFT OG RAPPORTERING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Bærekraftsrapportering og CSRD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krav til konkurransekraft i bygg og anlegg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Bergheim Entreprenør 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august 2026  |  BDO Rådgivning – Bærekraft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6355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Revisjon  •  Rådgivning  •  Advokater  •  Regnskap og lønn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bdo.no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FØRSTEMØTE  |  3. AUGUST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384048" cy="38404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0432" y="167335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Kravbildet – CSRD, ESRS og terskelverdier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66928" y="2496312"/>
            <a:ext cx="384048" cy="38404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70432" y="247802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 betyr det for Bergheim Entreprenør?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6928" y="3300984"/>
            <a:ext cx="384048" cy="38404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3282696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tilnærming – tre faser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66928" y="4105656"/>
            <a:ext cx="384048" cy="38404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4087368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Hvorfor BDO?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" y="4910328"/>
            <a:ext cx="384048" cy="384048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489204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steg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60920" y="1645920"/>
            <a:ext cx="4279392" cy="3749040"/>
          </a:xfrm>
          <a:prstGeom prst="roundRect">
            <a:avLst>
              <a:gd name="adj" fmla="val 2195"/>
            </a:avLst>
          </a:prstGeom>
          <a:solidFill>
            <a:srgbClr val="2B2B2B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53528" y="1956816"/>
            <a:ext cx="420624" cy="420624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6065" y="2049353"/>
            <a:ext cx="235549" cy="23554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0" y="19933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Målet med møtet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7653528" y="269748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Felles bilde av kravene – og hva de faktisk betyr for dere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Vise hvordan vi kan hjelpe – konkret og skalerbart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Enighet om neste steg før høstens anbudsrunder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48640" y="6510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 |  Bærekraftsrapportering og CSRD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KRAVBILDET  |  CSRD OG ESRS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Kravene treffer de store først – tersklene avgjør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76072" y="1554480"/>
            <a:ext cx="100584" cy="100584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48132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 er EUs direktiv for bærekraftsrapportering – innført i norsk rett gjennom regnskapsloven i 2024.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76072" y="2267712"/>
            <a:ext cx="100584" cy="100584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9456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Rapportering etter ESRS-standardene: miljø, sosiale forhold og styring – basert på dobbel vesentlighet.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" y="2980944"/>
            <a:ext cx="100584" cy="100584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0779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Rapporten inngår i årsberetningen og skal attesteres av revisor.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" y="3694176"/>
            <a:ext cx="100584" cy="100584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362102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Omnibus-pakken i EU: innfasing utsatt to år og terskler foreslått hevet – kravbildet er i bevegelse.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92240" y="1444752"/>
            <a:ext cx="5148072" cy="2743200"/>
          </a:xfrm>
          <a:prstGeom prst="roundRect">
            <a:avLst>
              <a:gd name="adj" fmla="val 300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48272" y="1627632"/>
            <a:ext cx="4636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FORETAK – MINST TO AV TRE OVERSKRIDES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48272" y="2011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580 MNOK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778240" y="2011680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salgsinntekter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48272" y="2633472"/>
            <a:ext cx="4636008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48272" y="27066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MNOK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778240" y="2706624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balansesum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48272" y="3328416"/>
            <a:ext cx="4636008" cy="0"/>
          </a:xfrm>
          <a:prstGeom prst="line">
            <a:avLst/>
          </a:prstGeom>
          <a:noFill/>
          <a:ln w="9525">
            <a:solidFill>
              <a:srgbClr val="E3E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4015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8778240" y="3401568"/>
            <a:ext cx="2587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årsverk i gjennomsnitt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988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INNFASING ETTER TOÅRSUTSETTELSEN I EU (2025) – REGNSKAPSÅR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376672"/>
            <a:ext cx="10835640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084064"/>
            <a:ext cx="585216" cy="585216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57972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Noterte foretak, banker og forsikring med over 500 ansatte – rapporterer allerede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5084064"/>
            <a:ext cx="585216" cy="585216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617720" y="57972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Øvrige store foretak – første rapport publiseres i 2028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5084064"/>
            <a:ext cx="585216" cy="585216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75320" y="579729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Noterte SMB – foreslått tatt ut av virkeområdet i omnibus-pakken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 |  Bærekraftsrapportering og CSRD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 BETYR DETTE FOR BERGHEIM?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terskelen i dag – men kravene når dere likevel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017520" cy="1024128"/>
          </a:xfrm>
          <a:prstGeom prst="roundRect">
            <a:avLst>
              <a:gd name="adj" fmla="val 8036"/>
            </a:avLst>
          </a:prstGeom>
          <a:solidFill>
            <a:srgbClr val="2B2B2B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996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MNOK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omsetning i dag (ca.) – terskel: 580 MNOK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371600"/>
            <a:ext cx="77998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av tre terskler må overskrides – Bergheim er derfor trolig ikke direkte rapporteringspliktig de nærmeste årene. Presset kommer likevel, fra flere kanter samtidig: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5385816" cy="1627632"/>
          </a:xfrm>
          <a:prstGeom prst="roundRect">
            <a:avLst>
              <a:gd name="adj" fmla="val 505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290779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610" y="2996306"/>
            <a:ext cx="225308" cy="2253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5024" y="28712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Byggherrer og hovedentreprenører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35024" y="320040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CSRD-pliktige kunder trenger tall fra leverandørkjeden – klima, HMS og seriøsitet. Frivillig SMB-standard (VSME) er blitt malen for bestillingene.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54496" y="2670048"/>
            <a:ext cx="5385816" cy="1627632"/>
          </a:xfrm>
          <a:prstGeom prst="roundRect">
            <a:avLst>
              <a:gd name="adj" fmla="val 505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73952" y="290779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466" y="2996306"/>
            <a:ext cx="225308" cy="2253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0880" y="287121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Offentlige anbud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040880" y="3200400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Klima og miljø vektes som hovedregel 30 %. Utslippsfrie byggeplasser og klimagassregnskap (NS 3720) etterspørres stadig oftere.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4443984"/>
            <a:ext cx="5385816" cy="1627632"/>
          </a:xfrm>
          <a:prstGeom prst="roundRect">
            <a:avLst>
              <a:gd name="adj" fmla="val 505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68096" y="4681728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10" y="4770242"/>
            <a:ext cx="225308" cy="2253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335024" y="46451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og forsikring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335024" y="4974336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ESG-status påvirker finansiering, garantier og pris på risiko. God dokumentasjon åpner for grønne lån og bedre betingelser.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54496" y="4443984"/>
            <a:ext cx="5385816" cy="1627632"/>
          </a:xfrm>
          <a:prstGeom prst="roundRect">
            <a:avLst>
              <a:gd name="adj" fmla="val 5056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73952" y="4681728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466" y="4770242"/>
            <a:ext cx="225308" cy="2253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464515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Krav som allerede gjelder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40880" y="4974336"/>
            <a:ext cx="4389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Åpenhetsloven omfatter dere i dag: aktsomhetsvurderinger og årlig redegjørelse. TEK17 krever 70 % kildesortering på byggeplass.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8640" y="61996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Vekst, oppkjøp eller endrede terskler kan dessuten gjøre dere direkte rapporteringspliktige på kort varsel.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 |  Bærekraftsrapportering og CSRD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TILNÆRMING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faser – i deres tempo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86384" y="1673352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367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Innsikt og vesentlighet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 1–6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606040"/>
            <a:ext cx="2907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Ambisjonsnivå og kartlegging av krav fra kunder, anbud og bank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Dobbel vesentlighetsanalyse – tilpasset deres størrelse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Prioriterte bærekraftstemaer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46634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LEVERANSE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86384" y="489204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Vesentlighetsanalyse og målbilde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8264" y="141732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36008" y="1673352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21224" y="16367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Gap-analyse og datagrunnlag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21224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 6–12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36008" y="2606040"/>
            <a:ext cx="2907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på data: klimaregnskap (scope 1–3), HMS, avfall, leverandører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mot VSME/ESRS og kundenes bestillinger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Veikart med tiltak, ansvar og KPI-er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6008" y="46634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LEVERANSE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636008" y="489204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Gap-rapport og prioritert veikart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47888" y="141732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85632" y="1673352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70848" y="163677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Rapportering og forankring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70848" y="2203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UKE 12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485632" y="2606040"/>
            <a:ext cx="29077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Klimaregnskap og nøkkeltall settes i system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 bærekraftsrapport – VSME eller forenklet ESRS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Policyer, opplæring og forankring i drift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85632" y="4663440"/>
            <a:ext cx="2907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LEVERANSE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485632" y="4892040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Publiseringsklar rapport – forberedt for attestasjon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05072" y="3310128"/>
            <a:ext cx="310896" cy="365760"/>
          </a:xfrm>
          <a:prstGeom prst="chevron">
            <a:avLst/>
          </a:prstGeom>
          <a:solidFill>
            <a:srgbClr val="ED1A3B"/>
          </a:solidFill>
          <a:ln/>
        </p:spPr>
      </p:sp>
      <p:sp>
        <p:nvSpPr>
          <p:cNvPr id="26" name="Shape 24"/>
          <p:cNvSpPr/>
          <p:nvPr/>
        </p:nvSpPr>
        <p:spPr>
          <a:xfrm>
            <a:off x="7854696" y="3310128"/>
            <a:ext cx="310896" cy="365760"/>
          </a:xfrm>
          <a:prstGeom prst="chevron">
            <a:avLst/>
          </a:prstGeom>
          <a:solidFill>
            <a:srgbClr val="ED1A3B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85216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Skalerbart opplegg: omfang, standardvalg og tempo tilpasses en mellomstor entreprenør – ikke et børsnotert konsern.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 |  Bærekraftsrapportering og CSRD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 BDO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Hvorfor BDO?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er blant landets største kompetansemiljøer innen revisjon og rådgivning – med et dedikert bærekraftsteam og lang fartstid i bygg og anlegg.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1A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4015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medarbeidere over hele landet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BA-analysen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4315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årlige analyse av bygg- og anleggsnæringen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0" y="14630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71907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1058" y="1807586"/>
            <a:ext cx="225308" cy="2253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8920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Bransjeinnsikt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352544" y="2331720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analyserer byggenæringen årlig og kjenner marginene, kontraktene og anbudshverdagen.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28432" y="14630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266176" y="171907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90" y="1807586"/>
            <a:ext cx="225308" cy="2253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805672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Tverrfaglig lag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8266176" y="2331720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Bærekraftsrådgivere, revisorer og advokater – ett team fra strategi til ferdig attestert rapport.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114800" y="3840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52544" y="409651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058" y="4185026"/>
            <a:ext cx="225308" cy="2253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9204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Metode for mellomstore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352544" y="4709160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Verktøy og maler skalert for virksomheter som deres – ikke for børsnoterte konsern.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028432" y="3840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6F6F6"/>
          </a:solidFill>
          <a:ln/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66176" y="4096512"/>
            <a:ext cx="402336" cy="402336"/>
          </a:xfrm>
          <a:prstGeom prst="ellipse">
            <a:avLst/>
          </a:prstGeom>
          <a:solidFill>
            <a:srgbClr val="ED1A3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690" y="4185026"/>
            <a:ext cx="225308" cy="2253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805672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Nær dere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8266176" y="4709160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Kontorer over hele landet – rådgiverne sitter i regionen og er tilgjengelige gjennom hele året.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651052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 |  Bærekraftsrapportering og CSRD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9A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371600"/>
            <a:ext cx="3657600" cy="3657600"/>
          </a:xfrm>
          <a:prstGeom prst="ellipse">
            <a:avLst/>
          </a:prstGeom>
          <a:ln w="19050">
            <a:solidFill>
              <a:srgbClr val="3E3E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1874520"/>
            <a:ext cx="237744" cy="237744"/>
          </a:xfrm>
          <a:prstGeom prst="ellipse">
            <a:avLst/>
          </a:prstGeom>
          <a:solidFill>
            <a:srgbClr val="ED1A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023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50" kern="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VEIEN VIDERE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steg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1792224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Arbeidsmøte (2 timer)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går gjennom kundekrav, anbud og ambisjonsnivå sammen med dere – og avgrenser hva som faktisk haster.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921240" y="1810512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21240" y="181051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 1–2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871216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81635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Kostnadsfri modenhetsvurdering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1821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statusgjennomgang med konkrete anbefalinger for de neste tolv månedene.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21240" y="2889504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1240" y="288950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 3–4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950208"/>
            <a:ext cx="457200" cy="457200"/>
          </a:xfrm>
          <a:prstGeom prst="ellipse">
            <a:avLst/>
          </a:prstGeom>
          <a:solidFill>
            <a:srgbClr val="ED1A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89534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Forslag til fase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26110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pris, team og tidsplan – et beslutningsgrunnlag dere kan ta til styret.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921240" y="3968496"/>
            <a:ext cx="1691640" cy="402336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 w="12700">
            <a:solidFill>
              <a:srgbClr val="6E6E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396849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C9C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UKE 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349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 vi sette datoen for arbeidsmøtet i dag?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9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BDO Bærekraftstjenester  |  bdo.no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BDO 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Bærekraftsrapportering og CSRD – Bergheim Entreprenør AS</dc:title>
  <dc:subject>Førstemøte om bærekraftsrapportering</dc:subject>
  <dc:creator>BDO</dc:creator>
  <cp:lastModifiedBy>BDO</cp:lastModifiedBy>
  <cp:revision>1</cp:revision>
  <dcterms:created xsi:type="dcterms:W3CDTF">2026-08-03T21:16:26Z</dcterms:created>
  <dcterms:modified xsi:type="dcterms:W3CDTF">2026-08-03T21:16:26Z</dcterms:modified>
</cp:coreProperties>
</file>