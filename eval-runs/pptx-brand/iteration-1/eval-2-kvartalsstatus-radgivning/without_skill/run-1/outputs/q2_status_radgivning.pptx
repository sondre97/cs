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Faktisk</c:v>
                </c:pt>
              </c:strCache>
            </c:strRef>
          </c:tx>
          <c:spPr>
            <a:solidFill>
              <a:srgbClr val="ED1A3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E2E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 2026</c:v>
                  </c:pt>
                  <c:pt idx="1">
                    <c:v>Q2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164</c:v>
                </c:pt>
                <c:pt idx="1">
                  <c:v>182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Budsjett</c:v>
                </c:pt>
              </c:strCache>
            </c:strRef>
          </c:tx>
          <c:spPr>
            <a:solidFill>
              <a:srgbClr val="C7C9D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E2E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 2026</c:v>
                  </c:pt>
                  <c:pt idx="1">
                    <c:v>Q2 2026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/>
                </c:pt>
                <c:pt idx="1">
                  <c:v>175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2E2E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6A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A6A72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Faktisk</c:v>
                </c:pt>
              </c:strCache>
            </c:strRef>
          </c:tx>
          <c:spPr>
            <a:solidFill>
              <a:srgbClr val="ED1A3B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E2E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2026</c:v>
                  </c:pt>
                  <c:pt idx="1">
                    <c:v>Q2 2026</c:v>
                  </c:pt>
                  <c:pt idx="2">
                    <c:v>Mål 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78</c:v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Mål</c:v>
                </c:pt>
              </c:strCache>
            </c:strRef>
          </c:tx>
          <c:spPr>
            <a:solidFill>
              <a:srgbClr val="C7C9D1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E2E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2026</c:v>
                  </c:pt>
                  <c:pt idx="1">
                    <c:v>Q2 2026</c:v>
                  </c:pt>
                  <c:pt idx="2">
                    <c:v>Mål 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/>
                </c:pt>
                <c:pt idx="1">
                  <c:v/>
                </c:pt>
                <c:pt idx="2">
                  <c:v>80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E2E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6A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Nyansettelser</c:v>
                </c:pt>
              </c:strCache>
            </c:strRef>
          </c:tx>
          <c:spPr>
            <a:solidFill>
              <a:srgbClr val="ED1A3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E2E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 2026</c:v>
                  </c:pt>
                  <c:pt idx="1">
                    <c:v>Q2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2E2E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6A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Statusgjennomgang for forretningsområdet Rådgivning, andre kvartal 2026. Hovedbudskap: sterk vekst, drift over budsjett og bedring på alle nøkkeltall.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fem nøkkeltall bedret seg fra Q1 til Q2. Omsetningen på 182 MNOK er 7 MNOK over budsjett og 18 MNOK over Q1.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Omsetningen i Q2 ble 182 MNOK – 4 % over budsjett og 11 % over Q1. Veksten er drevet av både høyere utfaktureringsgrad og økt timepris.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Utfaktureringsgraden økte fra 74 til 78 prosent – målet for Q3 er over 80. Tolv nyansettelser i Q2 mot åtte i Q1. Timeprisen opp 25 kroner, sykefraværet ned til 3,1 prosent.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prioriteringer for Q3: målrettet rekruttering av seniorer, etablering av et dedikert CSRD-team, og å løfte utfaktureringsgraden til over 80 prosent.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FORRETNINGSOMRÅDE RÅDGIVNING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Kvartalsstatus Q2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BAB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Internt ledermøte · august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 MNOK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5349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BAB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omsetning i Q2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60520" y="5349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BAB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budsjett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0" y="5349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BAB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utfaktureringsgrad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Hovedtall Q2 – fremgang på alle nøkkeltall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Rådgivning · andre kvartal 2026, endring mot Q1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44200" y="41148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4F4F6"/>
          </a:solidFill>
          <a:ln/>
        </p:spPr>
        <p:txBody>
          <a:bodyPr wrap="square" lIns="203200" tIns="203200" rIns="203200" bIns="20320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spc="12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OMSETNING</a:t>
            </a:r>
            <a:endParaRPr lang="en-US" sz="10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MNOK</a:t>
            </a:r>
            <a:endParaRPr lang="en-US" sz="10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 MNOK mot Q1 (+11 %)</a:t>
            </a:r>
            <a:endParaRPr lang="en-US" sz="10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+4 % over budsjett (175)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34256" y="16002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4F4F6"/>
          </a:solidFill>
          <a:ln/>
        </p:spPr>
        <p:txBody>
          <a:bodyPr wrap="square" lIns="203200" tIns="203200" rIns="203200" bIns="20320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spc="12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SNITT TIMEPRIS</a:t>
            </a:r>
            <a:endParaRPr lang="en-US" sz="10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1 480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kr</a:t>
            </a:r>
            <a:endParaRPr lang="en-US" sz="10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 kr mot Q1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19872" y="16002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4F4F6"/>
          </a:solidFill>
          <a:ln/>
        </p:spPr>
        <p:txBody>
          <a:bodyPr wrap="square" lIns="203200" tIns="203200" rIns="203200" bIns="20320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spc="12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UTFAKTURERINGSGRAD</a:t>
            </a:r>
            <a:endParaRPr lang="en-US" sz="10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10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prosentpoeng mot 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4F4F6"/>
          </a:solidFill>
          <a:ln/>
        </p:spPr>
        <p:txBody>
          <a:bodyPr wrap="square" lIns="203200" tIns="203200" rIns="203200" bIns="20320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spc="12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NYANSETTELSER</a:t>
            </a:r>
            <a:endParaRPr lang="en-US" sz="10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Q2</a:t>
            </a:r>
            <a:endParaRPr lang="en-US" sz="10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mot Q1</a:t>
            </a:r>
            <a:endParaRPr lang="en-US" sz="1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nyansatte hittil i år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34256" y="397764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4F4F6"/>
          </a:solidFill>
          <a:ln/>
        </p:spPr>
        <p:txBody>
          <a:bodyPr wrap="square" lIns="203200" tIns="203200" rIns="203200" bIns="20320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spc="12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SYKEFRAVÆR</a:t>
            </a:r>
            <a:endParaRPr lang="en-US" sz="10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10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−0,3 prosentpoeng mot 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19872" y="397764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CE8EC"/>
          </a:solidFill>
          <a:ln/>
        </p:spPr>
        <p:txBody>
          <a:bodyPr wrap="square" lIns="203200" tIns="203200" rIns="203200" bIns="20320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spc="12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OPPSUMMERT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nøkkeltall i bedring – omsetningen endte 7 MNOK over budsjett.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Rådgivning – Kvartalsstatus Q2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5566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Omsetning godt over budsjett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MNOK per kvartal – faktisk mot budsjett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44200" y="41148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35240" y="18745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35240" y="25146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budsjettoppnåelse i Q2 – 182 MNOK mot budsjett på 175 MNOK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35240" y="35204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+11 %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635240" y="41605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omsetningsvekst fra Q1 – en økning på 18 MNOK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35240" y="51206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Veksten er drevet av høyere utfaktureringsgrad og økt snitt timepris.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55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Rådgivning – Kvartalsstatus Q2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5566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og medarbeidere i riktig retning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Utvikling fra Q1 til Q2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44200" y="41148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Utfaktureringsgrad (%)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53949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45352" y="14447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Nyansettelser (antall)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45352" y="1783080"/>
          <a:ext cx="53949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138928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F4F4F6"/>
          </a:solidFill>
          <a:ln/>
        </p:spPr>
        <p:txBody>
          <a:bodyPr wrap="square" lIns="203200" tIns="203200" rIns="203200" bIns="20320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spc="12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SNITT TIMEPRIS</a:t>
            </a:r>
            <a:endParaRPr lang="en-US" sz="95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1 480 kr</a:t>
            </a:r>
            <a:pPr algn="l" indent="0" marL="0">
              <a:buNone/>
            </a:pPr>
            <a:r>
              <a:rPr lang="en-US" sz="11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▲ </a:t>
            </a:r>
            <a:pPr algn="l" indent="0" marL="0">
              <a:buNone/>
            </a:pPr>
            <a:r>
              <a:rPr lang="en-US" sz="11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 kr mot Q1 (1 455 kr)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245352" y="5138928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F4F4F6"/>
          </a:solidFill>
          <a:ln/>
        </p:spPr>
        <p:txBody>
          <a:bodyPr wrap="square" lIns="203200" tIns="203200" rIns="203200" bIns="20320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spc="120" kern="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SYKEFRAVÆR</a:t>
            </a:r>
            <a:endParaRPr lang="en-US" sz="95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3,1 %</a:t>
            </a:r>
            <a:pPr algn="l" indent="0" marL="0">
              <a:buNone/>
            </a:pPr>
            <a:r>
              <a:rPr lang="en-US" sz="11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▼ </a:t>
            </a:r>
            <a:pPr algn="l" indent="0" marL="0">
              <a:buNone/>
            </a:pPr>
            <a:r>
              <a:rPr lang="en-US" sz="11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−0,3 prosentpoeng mot Q1 (3,4 %)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48640" y="6455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Rådgivning – Kvartalsstatus Q2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47120" y="645566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Prioriteringer for Q3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BAB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hovedgrep for tredje kvartal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32323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487168"/>
            <a:ext cx="566928" cy="566928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Rekruttering av seniorer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886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Målrettet rekruttering av erfarne rådgivere for å sikre leveransekapasitet og kvalitet i takt med veksten.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214884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32323C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2487168"/>
            <a:ext cx="566928" cy="566928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26864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Etablere CSRD-team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26864" y="3886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Dedikert team for bærekraftsrapportering som posisjonerer oss for økende etterspørsel etter CSRD-tjenester.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9872" y="214884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32323C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487168"/>
            <a:ext cx="566928" cy="566928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Utfakturering over 80 %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3886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Løfte utfaktureringsgraden fra 78 % til over 80 % gjennom tettere kapasitetsstyring og prioritering av fakturerbare timer.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Rådgivning – Kvartalsstatus Q2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Kvartalsstatus Q2 2026 - Radgivning</dc:title>
  <dc:subject>PptxGenJS Presentation</dc:subject>
  <dc:creator>BDO Radgivning</dc:creator>
  <cp:lastModifiedBy>BDO Radgivning</cp:lastModifiedBy>
  <cp:revision>1</cp:revision>
  <dcterms:created xsi:type="dcterms:W3CDTF">2026-08-03T21:11:53Z</dcterms:created>
  <dcterms:modified xsi:type="dcterms:W3CDTF">2026-08-03T21:11:53Z</dcterms:modified>
</cp:coreProperties>
</file>