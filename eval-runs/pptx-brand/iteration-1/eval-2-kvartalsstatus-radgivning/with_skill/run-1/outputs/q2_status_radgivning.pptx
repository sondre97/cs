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E7F"/>
                </a:solidFill>
                <a:latin typeface="Trebuchet MS"/>
              </a:defRPr>
            </a:pPr>
            <a:r>
              <a:rPr sz="1200" b="0" i="0" u="none" strike="noStrike">
                <a:solidFill>
                  <a:srgbClr val="5B6E7F"/>
                </a:solidFill>
                <a:latin typeface="Trebuchet MS"/>
              </a:rPr>
              <a:t>Omsetning (MNOK)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Omsetning (MNOK)</c:v>
                </c:pt>
              </c:strCache>
            </c:strRef>
          </c:tx>
          <c:spPr>
            <a:solidFill>
              <a:srgbClr val="5B6E7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333333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E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D9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1A3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Q1 faktisk</c:v>
                  </c:pt>
                  <c:pt idx="1">
                    <c:v>Budsjett Q2</c:v>
                  </c:pt>
                  <c:pt idx="2">
                    <c:v>Q2 faktisk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164</c:v>
                </c:pt>
                <c:pt idx="1">
                  <c:v>175</c:v>
                </c:pt>
                <c:pt idx="2">
                  <c:v>182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300" u="none">
                  <a:solidFill>
                    <a:srgbClr val="333333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67676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E7F"/>
                </a:solidFill>
                <a:latin typeface="Trebuchet MS"/>
              </a:defRPr>
            </a:pPr>
            <a:r>
              <a:rPr sz="1200" b="0" i="0" u="none" strike="noStrike">
                <a:solidFill>
                  <a:srgbClr val="5B6E7F"/>
                </a:solidFill>
                <a:latin typeface="Trebuchet MS"/>
              </a:rPr>
              <a:t>Utfaktureringsgrad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Utfaktureringsgrad (%)</c:v>
                </c:pt>
              </c:strCache>
            </c:strRef>
          </c:tx>
          <c:spPr>
            <a:solidFill>
              <a:srgbClr val="5B6E7F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333333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E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1A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8BAC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Mål 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</c:v>
                </c:pt>
                <c:pt idx="1">
                  <c:v>78</c:v>
                </c:pt>
                <c:pt idx="2">
                  <c:v>80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333333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67676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Kvartalsstatus for forretningsområdet Rådgivning til internt ledermøte. Hovedbudskap: Q2 endte over budsjett, og driften bedret seg på alle nøkkeltall.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fem nøkkeltall bedret seg fra Q1. Omsetningen på 182 MNOK ligger 7 MNOK over budsjettet på 175 MNOK.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Omsetningen økte fra 164 til 182 MNOK (+11 prosent). Budsjettet for Q2 var 175 MNOK – vi endte 7 MNOK over (+4 prosent).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Driverne bak veksten: utfaktureringsgrad opp fra 74 til 78 prosent (mål over 80 i Q3), timepris opp 25 kr til 1 480 kr, 12 nyansettelser gir kapasitet, og sykefraværet falt til 3,1 prosent.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prioriteringer for Q3: rekruttering av seniorer, etablere CSRD-team og utfaktureringsgrad over 80 prosent.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A – Rød">
    <p:bg>
      <p:bgPr>
        <a:solidFill>
          <a:srgbClr val="E81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og nøkkelta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· Rådgivning · Kvartalsstatus Q2 2026 · Internt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graf og tekstfelt 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· Rådgivning · Kvartalsstatus Q2 2026 · Internt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graf og tekstfelt 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· Rådgivning · Kvartalsstatus Q2 2026 · Internt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og tre felt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· Rådgivning · Kvartalsstatus Q2 2026 · Internt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560320"/>
            <a:ext cx="5212080" cy="5212080"/>
          </a:xfrm>
          <a:prstGeom prst="ellipse">
            <a:avLst/>
          </a:prstGeom>
          <a:solidFill>
            <a:srgbClr val="98002E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640080"/>
            <a:ext cx="3017520" cy="30175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INTERNT LEDERMØTE · AUGUST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Kvartalsstatus Q2 2026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Forretningsområdet Rådgivning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6309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BA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Internt arbeidsdokument – ikke for distribusjon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NØKKELTALL · Q2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endte over budsjett – og driften bedret seg på alle nøkkeltall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77640" cy="4389120"/>
          </a:xfrm>
          <a:prstGeom prst="roundRect">
            <a:avLst>
              <a:gd name="adj" fmla="val 2759"/>
            </a:avLst>
          </a:prstGeom>
          <a:solidFill>
            <a:srgbClr val="FDED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768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OMSETNING Q2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" y="32918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182</a:t>
            </a:r>
            <a:pPr indent="0" marL="0">
              <a:buNone/>
            </a:pPr>
            <a:r>
              <a:rPr lang="en-US" sz="2000" b="1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MNOK</a:t>
            </a:r>
            <a:endParaRPr lang="en-US" sz="6400" dirty="0"/>
          </a:p>
        </p:txBody>
      </p:sp>
      <p:sp>
        <p:nvSpPr>
          <p:cNvPr id="9" name="Shape 6"/>
          <p:cNvSpPr/>
          <p:nvPr/>
        </p:nvSpPr>
        <p:spPr>
          <a:xfrm>
            <a:off x="868680" y="4617720"/>
            <a:ext cx="3310128" cy="475488"/>
          </a:xfrm>
          <a:prstGeom prst="roundRect">
            <a:avLst>
              <a:gd name="adj" fmla="val 50000"/>
            </a:avLst>
          </a:prstGeom>
          <a:solidFill>
            <a:srgbClr val="E0F3ED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61772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9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+18 MNOK mot Q1 (+11 %)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5193792"/>
            <a:ext cx="33101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193792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80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+7 MNOK mot budsjett (175)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00600" y="1828800"/>
            <a:ext cx="3291840" cy="2084832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5056632" y="2084832"/>
            <a:ext cx="457200" cy="457200"/>
          </a:xfrm>
          <a:prstGeom prst="ellipse">
            <a:avLst/>
          </a:prstGeom>
          <a:solidFill>
            <a:srgbClr val="5B6E7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216" y="218541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41848" y="2176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SNITT TIMEPRIS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056632" y="274320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1 480</a:t>
            </a:r>
            <a:pPr indent="0" marL="0">
              <a:buNone/>
            </a:pPr>
            <a:r>
              <a:rPr lang="en-US" sz="1500" b="1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kr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5056632" y="34198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+25 kr mot Q1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348472" y="1828800"/>
            <a:ext cx="3291840" cy="2084832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/>
        </p:spPr>
      </p:sp>
      <p:sp>
        <p:nvSpPr>
          <p:cNvPr id="20" name="Shape 16"/>
          <p:cNvSpPr/>
          <p:nvPr/>
        </p:nvSpPr>
        <p:spPr>
          <a:xfrm>
            <a:off x="8604504" y="2084832"/>
            <a:ext cx="457200" cy="457200"/>
          </a:xfrm>
          <a:prstGeom prst="ellipse">
            <a:avLst/>
          </a:prstGeom>
          <a:solidFill>
            <a:srgbClr val="5B6E7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18541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89720" y="2176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UTFAKTURERINGSGRAD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604504" y="274320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</a:t>
            </a:r>
            <a:pPr indent="0" marL="0">
              <a:buNone/>
            </a:pPr>
            <a:r>
              <a:rPr lang="en-US" sz="1500" b="1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%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8604504" y="34198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 fra 74 % i Q1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800600" y="4133088"/>
            <a:ext cx="3291840" cy="2084832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/>
        </p:spPr>
      </p:sp>
      <p:sp>
        <p:nvSpPr>
          <p:cNvPr id="26" name="Shape 21"/>
          <p:cNvSpPr/>
          <p:nvPr/>
        </p:nvSpPr>
        <p:spPr>
          <a:xfrm>
            <a:off x="5056632" y="4389120"/>
            <a:ext cx="457200" cy="457200"/>
          </a:xfrm>
          <a:prstGeom prst="ellipse">
            <a:avLst/>
          </a:prstGeom>
          <a:solidFill>
            <a:srgbClr val="5B6E7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44897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41848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NYANSETTELSER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56632" y="504748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5056632" y="57241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 8 i Q1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8348472" y="4133088"/>
            <a:ext cx="3291840" cy="2084832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/>
        </p:spPr>
      </p:sp>
      <p:sp>
        <p:nvSpPr>
          <p:cNvPr id="32" name="Shape 26"/>
          <p:cNvSpPr/>
          <p:nvPr/>
        </p:nvSpPr>
        <p:spPr>
          <a:xfrm>
            <a:off x="8604504" y="4389120"/>
            <a:ext cx="457200" cy="457200"/>
          </a:xfrm>
          <a:prstGeom prst="ellipse">
            <a:avLst/>
          </a:prstGeom>
          <a:solidFill>
            <a:srgbClr val="5B6E7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4489704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18972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SYKEFRAVÆR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8604504" y="504748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3,1</a:t>
            </a:r>
            <a:pPr indent="0" marL="0">
              <a:buNone/>
            </a:pPr>
            <a:r>
              <a:rPr lang="en-US" sz="1500" b="1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%</a:t>
            </a:r>
            <a:endParaRPr lang="en-US" sz="3000" dirty="0"/>
          </a:p>
        </p:txBody>
      </p:sp>
      <p:sp>
        <p:nvSpPr>
          <p:cNvPr id="36" name="Text 29"/>
          <p:cNvSpPr/>
          <p:nvPr/>
        </p:nvSpPr>
        <p:spPr>
          <a:xfrm>
            <a:off x="8604504" y="57241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ned fra 3,4 % i Q1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OMSETNING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Omsetningen økte 11 prosent fra Q1 og endte 7 MNOK over budsjettet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7040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874520"/>
            <a:ext cx="3776472" cy="4297680"/>
          </a:xfrm>
          <a:prstGeom prst="roundRect">
            <a:avLst>
              <a:gd name="adj" fmla="val 2906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156448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KORT FORTALT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156448" y="2798064"/>
            <a:ext cx="128016" cy="128016"/>
          </a:xfrm>
          <a:prstGeom prst="ellipse">
            <a:avLst/>
          </a:prstGeom>
          <a:solidFill>
            <a:srgbClr val="E81A3B"/>
          </a:solidFill>
          <a:ln/>
        </p:spPr>
      </p:sp>
      <p:sp>
        <p:nvSpPr>
          <p:cNvPr id="8" name="Text 5"/>
          <p:cNvSpPr/>
          <p:nvPr/>
        </p:nvSpPr>
        <p:spPr>
          <a:xfrm>
            <a:off x="8394192" y="274320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182 MNOK i Q2 – opp fra 164 i Q1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56448" y="3803904"/>
            <a:ext cx="128016" cy="128016"/>
          </a:xfrm>
          <a:prstGeom prst="ellipse">
            <a:avLst/>
          </a:prstGeom>
          <a:solidFill>
            <a:srgbClr val="E81A3B"/>
          </a:solidFill>
          <a:ln/>
        </p:spPr>
      </p:sp>
      <p:sp>
        <p:nvSpPr>
          <p:cNvPr id="10" name="Text 7"/>
          <p:cNvSpPr/>
          <p:nvPr/>
        </p:nvSpPr>
        <p:spPr>
          <a:xfrm>
            <a:off x="8394192" y="374904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Budsjettet på 175 MNOK ble slått med 7 MNOK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56448" y="4809744"/>
            <a:ext cx="128016" cy="128016"/>
          </a:xfrm>
          <a:prstGeom prst="ellipse">
            <a:avLst/>
          </a:prstGeom>
          <a:solidFill>
            <a:srgbClr val="E81A3B"/>
          </a:solidFill>
          <a:ln/>
        </p:spPr>
      </p:sp>
      <p:sp>
        <p:nvSpPr>
          <p:cNvPr id="12" name="Text 9"/>
          <p:cNvSpPr/>
          <p:nvPr/>
        </p:nvSpPr>
        <p:spPr>
          <a:xfrm>
            <a:off x="8394192" y="475488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Veksten er driftsdrevet: høyere utfakturering og timepris (neste side)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 OG KAPASITET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Utfaktureringsgraden steg til 78 prosent – målet for Q3 er over 80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5897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874520"/>
            <a:ext cx="4873752" cy="1335024"/>
          </a:xfrm>
          <a:prstGeom prst="roundRect">
            <a:avLst>
              <a:gd name="adj" fmla="val 8219"/>
            </a:avLst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7022592" y="2313432"/>
            <a:ext cx="457200" cy="457200"/>
          </a:xfrm>
          <a:prstGeom prst="ellipse">
            <a:avLst/>
          </a:prstGeom>
          <a:solidFill>
            <a:srgbClr val="5B6E7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176" y="241401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35240" y="2112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SNITT TIMEPRIS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635240" y="240487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3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1 480 kr</a:t>
            </a:r>
            <a:pPr indent="0" marL="0">
              <a:buNone/>
            </a:pPr>
            <a:r>
              <a:rPr lang="en-US" sz="1150" b="1" dirty="0">
                <a:solidFill>
                  <a:srgbClr val="0099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opp fra 1 455 kr i Q1 (+1,7 %)</a:t>
            </a:r>
            <a:endParaRPr lang="en-US" sz="2300" dirty="0"/>
          </a:p>
        </p:txBody>
      </p:sp>
      <p:sp>
        <p:nvSpPr>
          <p:cNvPr id="10" name="Shape 6"/>
          <p:cNvSpPr/>
          <p:nvPr/>
        </p:nvSpPr>
        <p:spPr>
          <a:xfrm>
            <a:off x="6766560" y="3355848"/>
            <a:ext cx="4873752" cy="1335024"/>
          </a:xfrm>
          <a:prstGeom prst="roundRect">
            <a:avLst>
              <a:gd name="adj" fmla="val 8219"/>
            </a:avLst>
          </a:prstGeom>
          <a:solidFill>
            <a:srgbClr val="F2F2F2"/>
          </a:solidFill>
          <a:ln/>
        </p:spPr>
      </p:sp>
      <p:sp>
        <p:nvSpPr>
          <p:cNvPr id="11" name="Shape 7"/>
          <p:cNvSpPr/>
          <p:nvPr/>
        </p:nvSpPr>
        <p:spPr>
          <a:xfrm>
            <a:off x="7022592" y="3794760"/>
            <a:ext cx="457200" cy="457200"/>
          </a:xfrm>
          <a:prstGeom prst="ellipse">
            <a:avLst/>
          </a:prstGeom>
          <a:solidFill>
            <a:srgbClr val="5B6E7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389534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35240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NYANSETTELSER I Q2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7635240" y="388620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3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pPr indent="0" marL="0">
              <a:buNone/>
            </a:pPr>
            <a:r>
              <a:rPr lang="en-US" sz="1150" b="1" dirty="0">
                <a:solidFill>
                  <a:srgbClr val="0099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mot 8 i Q1 (+50 %)</a:t>
            </a:r>
            <a:endParaRPr lang="en-US" sz="2300" dirty="0"/>
          </a:p>
        </p:txBody>
      </p:sp>
      <p:sp>
        <p:nvSpPr>
          <p:cNvPr id="15" name="Shape 10"/>
          <p:cNvSpPr/>
          <p:nvPr/>
        </p:nvSpPr>
        <p:spPr>
          <a:xfrm>
            <a:off x="6766560" y="4837176"/>
            <a:ext cx="4873752" cy="1335024"/>
          </a:xfrm>
          <a:prstGeom prst="roundRect">
            <a:avLst>
              <a:gd name="adj" fmla="val 8219"/>
            </a:avLst>
          </a:prstGeom>
          <a:solidFill>
            <a:srgbClr val="F2F2F2"/>
          </a:solidFill>
          <a:ln/>
        </p:spPr>
      </p:sp>
      <p:sp>
        <p:nvSpPr>
          <p:cNvPr id="16" name="Shape 11"/>
          <p:cNvSpPr/>
          <p:nvPr/>
        </p:nvSpPr>
        <p:spPr>
          <a:xfrm>
            <a:off x="7022592" y="5276088"/>
            <a:ext cx="457200" cy="457200"/>
          </a:xfrm>
          <a:prstGeom prst="ellipse">
            <a:avLst/>
          </a:prstGeom>
          <a:solidFill>
            <a:srgbClr val="5B6E7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537667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35240" y="5074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SYKEFRAVÆR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635240" y="53675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3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3,1 %</a:t>
            </a:r>
            <a:pPr indent="0" marL="0">
              <a:buNone/>
            </a:pPr>
            <a:r>
              <a:rPr lang="en-US" sz="1150" b="1" dirty="0">
                <a:solidFill>
                  <a:srgbClr val="0099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ned fra 3,4 % i Q1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VEIEN VIDERE · Q3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prioriterer seniorrekruttering, CSRD-team og utfakturering over 80 prosent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47872" cy="39776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PRIORITET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2560320"/>
            <a:ext cx="512064" cy="512064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791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Rekruttering av seniorer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1248" y="3886200"/>
            <a:ext cx="2980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Forsterke leveransene med erfarne rådgivere som kan lede team og eie kundeansvar. Nyansettelsene i Q2 gir kapasitet – seniorene skal gi retning og kvalitet.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0540" y="1874520"/>
            <a:ext cx="3547872" cy="39776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4613148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PRIORITET 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13148" y="2560320"/>
            <a:ext cx="512064" cy="512064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6791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3148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Etablere CSRD-team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13148" y="3886200"/>
            <a:ext cx="2980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Samle et dedikert fagmiljø for bærekraftsrapportering. Etterspørselen etter CSRD-støtte øker, og et eget team posisjonerer Rådgivning tidlig i markedet.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92440" y="1874520"/>
            <a:ext cx="3547872" cy="39776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8385048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PRIORITET 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385048" y="2560320"/>
            <a:ext cx="512064" cy="512064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6791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85048" y="3291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Utfakturering over 80 %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385048" y="3886200"/>
            <a:ext cx="2980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Løfte utfaktureringsgraden fra 78 til over 80 prosent gjennom strammere bemanningsplanlegging og riktig prosjektmiks.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Prioriteringene følges opp med status i kvartalsgjennomgangen for Q3.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F2F2F2"/>
      </a:lt2>
      <a:accent1>
        <a:srgbClr val="E81A3B"/>
      </a:accent1>
      <a:accent2>
        <a:srgbClr val="5B6E7F"/>
      </a:accent2>
      <a:accent3>
        <a:srgbClr val="98002E"/>
      </a:accent3>
      <a:accent4>
        <a:srgbClr val="D67900"/>
      </a:accent4>
      <a:accent5>
        <a:srgbClr val="009966"/>
      </a:accent5>
      <a:accent6>
        <a:srgbClr val="008FD2"/>
      </a:accent6>
      <a:hlink>
        <a:srgbClr val="0062B8"/>
      </a:hlink>
      <a:folHlink>
        <a:srgbClr val="98002E"/>
      </a:folHlink>
    </a:clrScheme>
    <a:fontScheme name="Office">
      <a:majorFont>
        <a:latin typeface="Trebuchet M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Kvartalsstatus Q2 2026 – Rådgivning</dc:title>
  <dc:subject>Internt ledermøte</dc:subject>
  <dc:creator>BDO Rådgivning</dc:creator>
  <cp:lastModifiedBy>BDO Rådgivning</cp:lastModifiedBy>
  <cp:revision>1</cp:revision>
  <dcterms:created xsi:type="dcterms:W3CDTF">2026-08-03T21:17:41Z</dcterms:created>
  <dcterms:modified xsi:type="dcterms:W3CDTF">2026-08-03T21:17:41Z</dcterms:modified>
</cp:coreProperties>
</file>