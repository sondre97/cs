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Driftsmargin</c:v>
                </c:pt>
              </c:strCache>
            </c:strRef>
          </c:tx>
          <c:spPr>
            <a:solidFill>
              <a:srgbClr val="ED1A3B"/>
            </a:solidFill>
            <a:effectLst/>
          </c:spPr>
          <c:invertIfNegative val="0"/>
          <c:dLbls>
            <c:numFmt formatCode="0.0&quot; 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33333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 fjor</c:v>
                  </c:pt>
                  <c:pt idx="1">
                    <c:v>Siste år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3.1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333333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DC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5555A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i prosjektering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1A3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6E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Bruker AI</c:v>
                </c:pt>
                <c:pt idx="1">
                  <c:v>Bruker ikke AI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</c:v>
                </c:pt>
                <c:pt idx="1">
                  <c:v>66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Hovedbildet i BA-analysen 2026: aktiviteten holder seg oppe med 4,2 prosent omsetningsvekst, men driftsmarginen faller fra 3,8 til 3,1 prosent. Budskapet til partnergruppen: næringen vokser uten å tjene 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Konkursene økte 18 prosent siste år, og økningen er størst blant underentreprenørene. Understrek smitteeffekten i verdikjeden – motpartsrisiko må inn i kundedialogen.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prosent av selskapene bruker AI i prosjekteringen. Poenget til partnerne: skillet mellom de som investerer og de som venter vokser – relevant både for kundedialogen og for våre egne leveranser.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Analysens hovedanbefaling: tettere likviditetsoppfølging hos utsatte kunder. Tre steg – identifisere de utsatte, følge likviditeten tett og reagere tidlig.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Avslutning: funnene omsatt til BDOs rådgivningsarbeid på tvers av tjenesteområdene. Oppfordring til partnerne: bruk analysen aktivt i kundedialogen.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· HOVEDFUNN 1 AV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Omsetningen vokser – lønnsomheten faller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40233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6519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| BA-analysen 2026 · Partnermøte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5912" y="6519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5715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Omsetningsveksten ble 4,2 %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 siste året – aktivitetsnivået i bygg- og anleggsnæringen holder seg oppe.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Driftsmarginen falt fra 3,8 % til 3,1 %.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Kostnadsvekst og hard priskonkurranse presser lønnsomheten i alle ledd.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Vekst uten lønnsomhet: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næringen omsetter mer, men sitter igjen med mindre. Marginpresset er analysens tydeligste signal.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6916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9E9E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+4,2 %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040880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omsetningsvekst i bygg- og anleggsnæringen siste år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Driftsmargin i næringen (%)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20840" y="3639312"/>
          <a:ext cx="4892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· HOVEDFUNN 2 AV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Konkursene øker – underentreprenørene er mest utsatt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40233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6519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| BA-analysen 2026 · Partnermøte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5912" y="6519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+18 %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66928" y="2450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flere konkurser i bygg- og anleggsnæringen det siste året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Økningen er særlig sterk blant underentreprenører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 leddet med tynnest marginer og minst buffere.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Risikoen smitter i verdikjeden: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når underleverandører faller fra, øker leveranse- og motpartsrisikoen for hovedentreprenører og byggherrer.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Kredittvurdering og løpende oppfølging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samarbeidspartnere blir stadig viktigere i prosjektgjennomføringen.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627632"/>
            <a:ext cx="4892040" cy="4572000"/>
          </a:xfrm>
          <a:prstGeom prst="roundRect">
            <a:avLst>
              <a:gd name="adj" fmla="val 1600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8470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Hvor i verdikjeden treffer konkursene?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8040" y="228600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DEDEE3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4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Byggherre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8997696" y="2926080"/>
            <a:ext cx="329184" cy="182880"/>
          </a:xfrm>
          <a:prstGeom prst="triangle">
            <a:avLst/>
          </a:prstGeom>
          <a:solidFill>
            <a:srgbClr val="B9B9C1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318211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CFCFD6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1821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44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Hovedentreprenør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8997696" y="3822192"/>
            <a:ext cx="329184" cy="182880"/>
          </a:xfrm>
          <a:prstGeom prst="triangle">
            <a:avLst/>
          </a:prstGeom>
          <a:solidFill>
            <a:srgbClr val="B9B9C1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407822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D1A3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407822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Underentreprenør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E1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størst økning i konkurser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50474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nederst i kjeden forplanter seg oppover: konkurs hos én underleverandør kan velte fremdrift og økonomi i hele prosjektet.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· HOVEDFUNN 3 AV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er i ferd med å bli standard i prosjekteringen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40233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6519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| BA-analysen 2026 · Partnermøte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5912" y="6519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5897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34 % av selskapene bruker nå AI i prosjekteringen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 omtrent hvert tredje selskap i næringen.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Gevinstene hentes tidlig i prosjektene: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raskere prosjektering, færre feil og bedre beslutningsgrunnlag.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kompetanseskille er i emning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mellom selskapene som investerer i AI, og de som avventer – det vil merkes i konkurransen om både oppdrag og folk.</a:t>
            </a:r>
            <a:endParaRPr lang="en-US" sz="14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949440" y="1783080"/>
          <a:ext cx="4206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13816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34 %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13816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selskapene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5650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Andel av selskapene i næringen som bruker AI i prosjekteringen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· ANBEFALING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Tettere likviditetsoppfølging hos utsatte kunder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40233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6519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| BA-analysen 2026 · Partnermøte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5912" y="6519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Marginpress og konkursvekst treffer likviditeten først. BA-analysen 2026 anbefaler én tydelig prioritet i kundeoppfølgingen: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505456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334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" y="33101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Identifiser de utsatte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59536" y="3913632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Bruk funnene i analysen til å fange opp kunder med svak inntjening, presset arbeidskapital og endret betalingsatferd.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7972" y="21945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5F5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0580" y="2505456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6334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0580" y="33101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Følg likviditeten tett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40580" y="3913632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Hyppigere likviditetsprognoser og tett oppfølging av ordrereserve, fakturering og utestående fordringer.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29016" y="21945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5F5F7"/>
          </a:solidFill>
          <a:ln/>
        </p:spPr>
      </p:sp>
      <p:sp>
        <p:nvSpPr>
          <p:cNvPr id="19" name="Shape 15"/>
          <p:cNvSpPr/>
          <p:nvPr/>
        </p:nvSpPr>
        <p:spPr>
          <a:xfrm>
            <a:off x="8421624" y="2505456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334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21624" y="33101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Reager tidlig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21624" y="3913632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dialogen om tiltak, finansiering og restrukturering før utfordringene blir akutte – tidlig innsats gir flest muligheter.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· IMPLIKASJONER FOR BDO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 funnene betyr for BDOs rådgivningsarbeid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40233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6519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| BA-analysen 2026 · Partnermøte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5912" y="6519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440680" cy="1947672"/>
          </a:xfrm>
          <a:prstGeom prst="roundRect">
            <a:avLst>
              <a:gd name="adj" fmla="val 3756"/>
            </a:avLst>
          </a:prstGeom>
          <a:solidFill>
            <a:srgbClr val="32323A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938528"/>
            <a:ext cx="475488" cy="47548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482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9019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Lønnsomhet og prosjektøkonomi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257860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Marginpresset gjør kostnadsstyring, prising og løpende prosjektoppfølging til kjerneleveranser i rådgivningen.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645920"/>
            <a:ext cx="5440680" cy="1947672"/>
          </a:xfrm>
          <a:prstGeom prst="roundRect">
            <a:avLst>
              <a:gd name="adj" fmla="val 3756"/>
            </a:avLst>
          </a:prstGeom>
          <a:solidFill>
            <a:srgbClr val="32323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73952" y="1938528"/>
            <a:ext cx="475488" cy="47548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82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19019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og restrukturering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73952" y="257860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Flere konkurser øker behovet for tidlig varsling, motpartsvurderinger og restruktureringsbistand i hele verdikjeden.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3776472"/>
            <a:ext cx="5440680" cy="1947672"/>
          </a:xfrm>
          <a:prstGeom prst="roundRect">
            <a:avLst>
              <a:gd name="adj" fmla="val 3756"/>
            </a:avLst>
          </a:prstGeom>
          <a:solidFill>
            <a:srgbClr val="32323A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" y="4069080"/>
            <a:ext cx="475488" cy="47548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178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403250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Likviditet og finansiering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1248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Anbefalingen forplikter: tettere likviditetsoppfølging av utsatte kunder må inn i revisjons- og rådgivningsleveransene.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99632" y="3776472"/>
            <a:ext cx="5440680" cy="1947672"/>
          </a:xfrm>
          <a:prstGeom prst="roundRect">
            <a:avLst>
              <a:gd name="adj" fmla="val 3756"/>
            </a:avLst>
          </a:prstGeom>
          <a:solidFill>
            <a:srgbClr val="32323A"/>
          </a:solidFill>
          <a:ln/>
        </p:spPr>
      </p:sp>
      <p:sp>
        <p:nvSpPr>
          <p:cNvPr id="23" name="Shape 18"/>
          <p:cNvSpPr/>
          <p:nvPr/>
        </p:nvSpPr>
        <p:spPr>
          <a:xfrm>
            <a:off x="6473952" y="4069080"/>
            <a:ext cx="475488" cy="475488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788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14032" y="403250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Digitalisering og AI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473952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AI-skiftet i prosjekteringen åpner et nytt rådgivningsrom – fra gevinstrealisering og kompetanse til styring og kontroll.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66928" y="59618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gir oss en konkret inngang til kundenes styrerom – bruk funnene aktivt i dialogen med bransjen.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BA-analysen 2026 – hovedfunn til partnermøtet</dc:title>
  <dc:subject>BA-analysen 2026</dc:subject>
  <dc:creator>BDO</dc:creator>
  <cp:lastModifiedBy>BDO</cp:lastModifiedBy>
  <cp:revision>1</cp:revision>
  <dcterms:created xsi:type="dcterms:W3CDTF">2026-08-03T21:13:49Z</dcterms:created>
  <dcterms:modified xsi:type="dcterms:W3CDTF">2026-08-03T21:13:49Z</dcterms:modified>
</cp:coreProperties>
</file>