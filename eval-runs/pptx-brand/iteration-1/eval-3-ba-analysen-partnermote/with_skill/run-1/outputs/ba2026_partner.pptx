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Driftsmargin</c:v>
                </c:pt>
              </c:strCache>
            </c:strRef>
          </c:tx>
          <c:spPr>
            <a:solidFill>
              <a:srgbClr val="5B6E7F"/>
            </a:solidFill>
            <a:effectLst/>
          </c:spPr>
          <c:invertIfNegative val="0"/>
          <c:dLbls>
            <c:numFmt formatCode="0.0&quot; 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333333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E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1A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 fjor</c:v>
                  </c:pt>
                  <c:pt idx="1">
                    <c:v>I år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3.8</c:v>
                </c:pt>
                <c:pt idx="1">
                  <c:v>3.1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333333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CECE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Trebuchet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rebuchet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i prosjektering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1A3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9D9D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3333"/>
                      </a:solidFill>
                      <a:latin typeface="Trebuchet M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333333"/>
                      </a:solidFill>
                      <a:latin typeface="Trebuchet M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Trebuchet M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Bruker AI i prosjektering</c:v>
                </c:pt>
                <c:pt idx="1">
                  <c:v>Bruker ikke AI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</c:v>
                </c:pt>
                <c:pt idx="1">
                  <c:v>66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Hovedbudskap: aktiviteten holder seg oppe, men lønnsomheten svekkes. Omsetningsvekst på 4,2 prosent i fjor, mens driftsmarginen falt fra 3,8 til 3,1 prosent. Poeng til partnerne: topplinjevekst hos kundene må ikke leses som friskmelding – marginbildet avgjør.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Konkursene økte med 18 prosent siste år, og mest blant underentreprenørene. Mekanismen: oppgjør og endringsordrer forsinkes nedover i kjeden, og leddet med tynnest marginer og svakest likviditet rammes først. Relevant for porteføljevurdering, going concern-vurderinger og kredittdialogen.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prosent bruker AI i prosjekteringen – teknologien går fra pilot til praksis. To av tre står fortsatt utenfor, og der ligger både konkurranserisikoen for kundene og rådgivningsrommet for 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Analysens anbefaling: tettere likviditetsoppfølging hos utsatte kunder. Operasjonalisert i tre grep – identifiser risikokundene, etabler rullerende likviditetsprognoser, og ta dialogen om tiltak før betalingsproblemene inntreffer.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Avslutning: funnene omsatt til rådgivningsarbeidet. Tre satsinger – restrukturering og likviditetsbistand der risikoen er størst, BA-analysen som døråpner i kundedialogen, og AI-rådgivning i prosjektering som vekstområde. Neste steg: bruk analysen aktivt i høstens kundemøter.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DO Innhol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 ·  HOVEDFUNN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Næringen vokser, men lønnsomheten faller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55648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Omsetningen i bygg- og anleggsnæringen økte med 4,2 prosent i fjor. Samtidig falt driftsmarginen fra 3,8 til 3,1 prosent – kostnadsveksten spiser mer enn veksten gir.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2044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9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+4,2 %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422452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omsetningsvekst siste år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32918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352044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3,1 %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47288" y="422452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driftsmargin – ned fra 3,8 %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5349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Vekst er ikke lenger noen garanti for lønnsomhet.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75564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Driftsmargin i næringen, prosent av omsetning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263640" y="2194560"/>
          <a:ext cx="5349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263640" y="6108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Kilde: BDOs bygg- og anleggsanalyse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 ·  HOVEDFUNN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Konkursveksten treffer underentreprenørene hardest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0" cy="4526280"/>
          </a:xfrm>
          <a:prstGeom prst="roundRect">
            <a:avLst>
              <a:gd name="adj" fmla="val 2222"/>
            </a:avLst>
          </a:prstGeom>
          <a:solidFill>
            <a:srgbClr val="FDE8E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23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+18 %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flere konkurser i bygg og anlegg siste år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Økningen er størst i underentreprenørleddet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Kilde: BDOs bygg- og anleggsanalyse 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66360" y="1737360"/>
            <a:ext cx="6446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Konkursene øker i hele næringen, men mest der bufferne er minst. Tre forhold gjør underentreprenørene særlig utsatt: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166360" y="2779776"/>
            <a:ext cx="420624" cy="42062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7310" y="2880726"/>
            <a:ext cx="218724" cy="2187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79008" y="2743200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 i oppgjørskjeden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79008" y="305409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Endringsordrer og sluttoppgjør skyves nedover i kontraktskjeden, og likviditetsbelastningen lander hos de minste.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66360" y="4014216"/>
            <a:ext cx="420624" cy="42062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10" y="4115166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79008" y="3977640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Tynnest marginer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779008" y="428853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Marginpresset gir minst buffer i leddet som allerede tjener minst – små prosjektavvik gir tap.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166360" y="5248656"/>
            <a:ext cx="420624" cy="42062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10" y="5349606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79008" y="5212080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Kort vei til stans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779008" y="552297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Uten reserver er veien fra forsinket oppgjør til betalingsstans kort.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 ·  HOVEDFUNN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Hvert tredje selskap bruker nå AI i prosjekteringen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4297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9164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34 %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48640" y="59436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Andel som bruker AI i prosjektering. Kilde: BDOs bygg- og anleggsanalyse 2026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349240" y="1874520"/>
            <a:ext cx="6263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årets undersøkelse oppgir 34 prosent av selskapene at de bruker AI i prosjekteringen. Teknologien er på vei fra utprøving til standard arbeidsmåte i tidligfasen.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49240" y="3200400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Selskapene som har kommet lengst, henter gevinstene i raskere kalkyler, færre feil og bedre beslutningsgrunnlag før byggestart.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49240" y="4434840"/>
            <a:ext cx="6263640" cy="155448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5623560" y="5001768"/>
            <a:ext cx="420624" cy="420624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10" y="510271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4681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av tre står fortsatt utenfor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63640" y="49926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 gir et forsprang til dem som effektiviserer nå – og et stort mulighetsrom for resten.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 ·  ANBEFALING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Utsatte kunder bør følges tettere på likviditet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556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Marginpress og konkursvekst flytter risikoen mot kundene med svakest buffere. Analysen anbefaler tettere likviditetsoppfølging – for rådgiver betyr det tre grep: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538728" cy="3246120"/>
          </a:xfrm>
          <a:prstGeom prst="roundRect">
            <a:avLst>
              <a:gd name="adj" fmla="val 281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3017520"/>
            <a:ext cx="457200" cy="457200"/>
          </a:xfrm>
          <a:prstGeom prst="ellipse">
            <a:avLst/>
          </a:prstGeom>
          <a:solidFill>
            <a:srgbClr val="E81A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Identifiser de utsatte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1148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Kartlegg porteføljen mot funnene: fallende driftsmargin, svak arbeidskapital og høy eksponering mot underentrepriser.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3538728" cy="3246120"/>
          </a:xfrm>
          <a:prstGeom prst="roundRect">
            <a:avLst>
              <a:gd name="adj" fmla="val 2817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3017520"/>
            <a:ext cx="457200" cy="457200"/>
          </a:xfrm>
          <a:prstGeom prst="ellipse">
            <a:avLst/>
          </a:prstGeom>
          <a:solidFill>
            <a:srgbClr val="E81A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Følg likviditeten tett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Etabler rullerende likviditetsprognoser og fast gjennomgang med kunden – månedlig rytme, ikke bare ved årsoppgjør.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2697480"/>
            <a:ext cx="3538728" cy="3246120"/>
          </a:xfrm>
          <a:prstGeom prst="roundRect">
            <a:avLst>
              <a:gd name="adj" fmla="val 281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94192" y="3017520"/>
            <a:ext cx="457200" cy="457200"/>
          </a:xfrm>
          <a:prstGeom prst="ellipse">
            <a:avLst/>
          </a:prstGeom>
          <a:solidFill>
            <a:srgbClr val="E81A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dialogen tidlig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94192" y="41148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Reforhandling, refinansiering og kostnadstiltak virker best før betalingsproblemene er et faktum.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BA-ANALYSEN 2026  ·  BETYDNING FOR BDO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Funnene peker ut tre satsinger for rådgivningen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5564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BDO er analysen mer enn en statusrapport – den viser hvor kundene trenger oss mest det neste året: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38728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807208"/>
            <a:ext cx="457200" cy="457200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91693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474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Likviditet og restrukturering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41148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Konkursveksten gir økt behov for tidlig restruktureringsbistand. Prioriter kundene med svakest buffere.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5112" y="2514600"/>
            <a:ext cx="3538728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807208"/>
            <a:ext cx="457200" cy="457200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91693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474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Innsikt i kundedialogen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1148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Bruk funnene som faktagrunnlag i styremøter, kredittdialog og tilbud – analysen åpner dører hos kunder og banker.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01584" y="2514600"/>
            <a:ext cx="3538728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4192" y="2807208"/>
            <a:ext cx="457200" cy="457200"/>
          </a:xfrm>
          <a:prstGeom prst="ellipse">
            <a:avLst/>
          </a:prstGeom>
          <a:solidFill>
            <a:srgbClr val="E81A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9169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474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AI-rådgivning i prosjektering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41148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av tre selskaper har ennå ikke tatt steget. Teknologivalg, prosess og gevinstuttak blir et voksende rådgivningsområde.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943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Funnene gir konkrete knagger for høstens kundedialog: </a:t>
            </a:r>
            <a:pPr indent="0" marL="0">
              <a:buNone/>
            </a:pPr>
            <a:r>
              <a:rPr lang="en-US" sz="14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likviditet der risikoen er størst, teknologi der mulighetene er størst.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F2F2F2"/>
      </a:lt2>
      <a:accent1>
        <a:srgbClr val="E81A3B"/>
      </a:accent1>
      <a:accent2>
        <a:srgbClr val="5B6E7F"/>
      </a:accent2>
      <a:accent3>
        <a:srgbClr val="98002E"/>
      </a:accent3>
      <a:accent4>
        <a:srgbClr val="D67900"/>
      </a:accent4>
      <a:accent5>
        <a:srgbClr val="009966"/>
      </a:accent5>
      <a:accent6>
        <a:srgbClr val="008FD2"/>
      </a:accent6>
      <a:hlink>
        <a:srgbClr val="0062B8"/>
      </a:hlink>
      <a:folHlink>
        <a:srgbClr val="98002E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BA-analysen 2026 – hovedfunn til partnermøtet</dc:title>
  <dc:subject>BDOs bygg- og anleggsanalyse 2026</dc:subject>
  <dc:creator>BDO</dc:creator>
  <cp:lastModifiedBy>BDO</cp:lastModifiedBy>
  <cp:revision>1</cp:revision>
  <dcterms:created xsi:type="dcterms:W3CDTF">2026-08-03T21:16:25Z</dcterms:created>
  <dcterms:modified xsi:type="dcterms:W3CDTF">2026-08-03T21:16:25Z</dcterms:modified>
</cp:coreProperties>
</file>